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0" b="1">
                <a:solidFill>
                  <a:srgbClr val="FFFFFF"/>
                </a:solidFill>
                <a:latin typeface="Helvetica Neue"/>
              </a:defRPr>
            </a:pPr>
            <a:r>
              <a:t>MacBook Pro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Helvetica Neue"/>
              </a:defRPr>
            </a:pPr>
            <a:r>
              <a:t>专业人士的</a:t>
            </a:r>
            <a:br/>
            <a:r>
              <a:t>终极工具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0" b="1">
                <a:solidFill>
                  <a:srgbClr val="1D1D1F"/>
                </a:solidFill>
                <a:latin typeface="Helvetica Neue"/>
              </a:defRPr>
            </a:pPr>
            <a:r>
              <a:t>M3 Pro</a:t>
            </a:r>
            <a:br/>
            <a:r>
              <a:t>M3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Helvetica Neue"/>
              </a:defRPr>
            </a:pPr>
            <a:r>
              <a:t>最多 40 核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0">
                <a:solidFill>
                  <a:srgbClr val="C8C8C8"/>
                </a:solidFill>
                <a:latin typeface="Helvetica Neue"/>
              </a:defRPr>
            </a:pPr>
            <a:r>
              <a:t>图形处理性能提升</a:t>
            </a:r>
            <a:br/>
            <a:r>
              <a:t>最高达 6 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800" b="1">
                <a:solidFill>
                  <a:srgbClr val="1D1D1F"/>
                </a:solidFill>
                <a:latin typeface="Helvetica Neue"/>
              </a:defRPr>
            </a:pPr>
            <a:r>
              <a:t>最高 128GB</a:t>
            </a:r>
            <a:br/>
            <a:r>
              <a:t>统一内存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Helvetica Neue"/>
              </a:defRPr>
            </a:pPr>
            <a:r>
              <a:t>Liquid Retina XDR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0">
                <a:solidFill>
                  <a:srgbClr val="C8C8C8"/>
                </a:solidFill>
                <a:latin typeface="Helvetica Neue"/>
              </a:defRPr>
            </a:pPr>
            <a:r>
              <a:t>1600 尼特峰值亮度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400" b="1">
                <a:solidFill>
                  <a:srgbClr val="1D1D1F"/>
                </a:solidFill>
                <a:latin typeface="Helvetica Neue"/>
              </a:defRPr>
            </a:pPr>
            <a:r>
              <a:t>ProMotion</a:t>
            </a:r>
            <a:br/>
            <a:r>
              <a:t>自适应刷新率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0">
                <a:solidFill>
                  <a:srgbClr val="86868B"/>
                </a:solidFill>
                <a:latin typeface="Helvetica Neue"/>
              </a:defRPr>
            </a:pPr>
            <a:r>
              <a:t>最高 120Hz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Helvetica Neue"/>
              </a:defRPr>
            </a:pPr>
            <a:r>
              <a:t>22 小时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0">
                <a:solidFill>
                  <a:srgbClr val="C8C8C8"/>
                </a:solidFill>
                <a:latin typeface="Helvetica Neue"/>
              </a:defRPr>
            </a:pPr>
            <a:r>
              <a:t>电池使用时间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200" b="1">
                <a:solidFill>
                  <a:srgbClr val="1D1D1F"/>
                </a:solidFill>
                <a:latin typeface="Helvetica Neue"/>
              </a:defRPr>
            </a:pPr>
            <a:r>
              <a:t>Thunderbolt 4</a:t>
            </a:r>
            <a:br/>
            <a:r>
              <a:t>HDMI</a:t>
            </a:r>
            <a:br/>
            <a:r>
              <a:t>SDXC</a:t>
            </a:r>
            <a:br/>
            <a:r>
              <a:t>MagSafe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Helvetica Neue"/>
              </a:defRPr>
            </a:pPr>
            <a:r>
              <a:t>14.2″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0">
                <a:solidFill>
                  <a:srgbClr val="C8C8C8"/>
                </a:solidFill>
                <a:latin typeface="Helvetica Neue"/>
              </a:defRPr>
            </a:pPr>
            <a:r>
              <a:t>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Helvetica Neue"/>
              </a:defRPr>
            </a:pPr>
            <a:r>
              <a:t>16.2″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1D1D1F"/>
                </a:solidFill>
                <a:latin typeface="Helvetica Neue"/>
              </a:defRPr>
            </a:pPr>
            <a:r>
              <a:t>视频剪辑</a:t>
            </a:r>
            <a:br/>
            <a:r>
              <a:t>3D 渲染</a:t>
            </a:r>
            <a:br/>
            <a:r>
              <a:t>软件开发</a:t>
            </a:r>
            <a:br/>
            <a:r>
              <a:t>音乐制作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800" b="1">
                <a:solidFill>
                  <a:srgbClr val="FFFFFF"/>
                </a:solidFill>
                <a:latin typeface="Helvetica Neue"/>
              </a:defRPr>
            </a:pPr>
            <a:r>
              <a:t>8K 视频</a:t>
            </a:r>
            <a:br/>
            <a:r>
              <a:t>流畅剪辑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400" b="1">
                <a:solidFill>
                  <a:srgbClr val="1D1D1F"/>
                </a:solidFill>
                <a:latin typeface="Helvetica Neue"/>
              </a:defRPr>
            </a:pPr>
            <a:r>
              <a:t>编译速度</a:t>
            </a:r>
            <a:br/>
            <a:r>
              <a:t>提升 2.5 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Helvetica Neue"/>
              </a:defRPr>
            </a:pPr>
            <a:r>
              <a:t>精致</a:t>
            </a:r>
            <a:br/>
            <a:r>
              <a:t>强大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400" b="1">
                <a:solidFill>
                  <a:srgbClr val="1D1D1F"/>
                </a:solidFill>
                <a:latin typeface="Helvetica Neue"/>
              </a:defRPr>
            </a:pPr>
            <a:r>
              <a:t>铝金属一体式</a:t>
            </a:r>
            <a:br/>
            <a:r>
              <a:t>机身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800" b="1">
                <a:solidFill>
                  <a:srgbClr val="1D1D1F"/>
                </a:solidFill>
                <a:latin typeface="Helvetica Neue"/>
              </a:defRPr>
            </a:pPr>
            <a:r>
              <a:t>深空灰</a:t>
            </a:r>
            <a:br/>
            <a:r>
              <a:t>银色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Helvetica Neue"/>
              </a:defRPr>
            </a:pPr>
            <a:r>
              <a:t>妙控键盘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0">
                <a:solidFill>
                  <a:srgbClr val="C8C8C8"/>
                </a:solidFill>
                <a:latin typeface="Helvetica Neue"/>
              </a:defRPr>
            </a:pPr>
            <a:r>
              <a:t>配备触控 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400" b="1">
                <a:solidFill>
                  <a:srgbClr val="1D1D1F"/>
                </a:solidFill>
                <a:latin typeface="Helvetica Neue"/>
              </a:defRPr>
            </a:pPr>
            <a:r>
              <a:t>六扬声器</a:t>
            </a:r>
            <a:br/>
            <a:r>
              <a:t>音响系统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0">
                <a:solidFill>
                  <a:srgbClr val="86868B"/>
                </a:solidFill>
                <a:latin typeface="Helvetica Neue"/>
              </a:defRPr>
            </a:pPr>
            <a:r>
              <a:t>空间音频支持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800" b="1">
                <a:solidFill>
                  <a:srgbClr val="FFFFFF"/>
                </a:solidFill>
                <a:latin typeface="Helvetica Neue"/>
              </a:defRPr>
            </a:pPr>
            <a:r>
              <a:t>¥15,999 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0">
                <a:solidFill>
                  <a:srgbClr val="C8C8C8"/>
                </a:solidFill>
                <a:latin typeface="Helvetica Neue"/>
              </a:defRPr>
            </a:pPr>
            <a:r>
              <a:t>14 英寸 MacBook Pro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400" b="1">
                <a:solidFill>
                  <a:srgbClr val="1D1D1F"/>
                </a:solidFill>
                <a:latin typeface="Helvetica Neue"/>
              </a:defRPr>
            </a:pPr>
            <a:r>
              <a:t>性能</a:t>
            </a:r>
            <a:br/>
            <a:r>
              <a:t>不设限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600" b="1">
                <a:solidFill>
                  <a:srgbClr val="FFFFFF"/>
                </a:solidFill>
                <a:latin typeface="Helvetica Neue"/>
              </a:defRPr>
            </a:pPr>
            <a:r>
              <a:t>MacBook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0">
                <a:solidFill>
                  <a:srgbClr val="C8C8C8"/>
                </a:solidFill>
                <a:latin typeface="Helvetica Neue"/>
              </a:defRPr>
            </a:pPr>
            <a:r>
              <a:t>现已发售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